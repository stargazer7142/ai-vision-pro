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692" r:id="rId19"/>
  </p:sldMasterIdLst>
  <p:notesMasterIdLst>
    <p:notesMasterId r:id="rId21"/>
  </p:notesMasterIdLst>
  <p:sldIdLst>
    <p:sldId id="256" r:id="rId20"/>
    <p:sldId id="257" r:id="rId22"/>
    <p:sldId id="258" r:id="rId23"/>
    <p:sldId id="260" r:id="rId24"/>
    <p:sldId id="261" r:id="rId25"/>
    <p:sldId id="262" r:id="rId26"/>
    <p:sldId id="266" r:id="rId27"/>
    <p:sldId id="269" r:id="rId28"/>
    <p:sldId id="275" r:id="rId29"/>
    <p:sldId id="276" r:id="rId30"/>
    <p:sldId id="259" r:id="rId31"/>
    <p:sldId id="273" r:id="rId32"/>
    <p:sldId id="277" r:id="rId33"/>
    <p:sldId id="274" r:id="rId34"/>
    <p:sldId id="278" r:id="rId35"/>
    <p:sldId id="280" r:id="rId36"/>
    <p:sldId id="281" r:id="rId37"/>
    <p:sldId id="289" r:id="rId38"/>
    <p:sldId id="285" r:id="rId39"/>
    <p:sldId id="279" r:id="rId40"/>
    <p:sldId id="286" r:id="rId41"/>
    <p:sldId id="282" r:id="rId42"/>
    <p:sldId id="284" r:id="rId43"/>
    <p:sldId id="283" r:id="rId44"/>
    <p:sldId id="287" r:id="rId45"/>
    <p:sldId id="270" r:id="rId46"/>
    <p:sldId id="271" r:id="rId47"/>
    <p:sldId id="272" r:id="rId4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7" userDrawn="1">
          <p15:clr>
            <a:srgbClr val="747775"/>
          </p15:clr>
        </p15:guide>
        <p15:guide id="2" pos="288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7"/>
        <p:guide pos="288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们团队开发的“AI视频识别信号平台”。这是一个基于深度学习的智能安防监控系统，旨在解决传统安防监控中的痛点，提供更高效、更智能的解决方案。接下来，我将详细阐述项目的背景、核心功能、技术架构以及未来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。首先，我会介绍项目的背景与定位，阐述我们为什么要做这个平台。接着，会详细讲解平台的核心业务场景和应用。之后，我会深入剖析系统的整体架构和技术方案。然后，我们会重点介绍核心功能模块的实现细节。最后，展示项目的成果并对未来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出发点，是解决当前安防领域的几个核心痛点。传统监控高度依赖人力，效率低下且容易出错。而现有的AI方案又往往功能单一，无法应对复杂的实际场景。同时，不同厂商设备的兼容性问题也增加了部署和维护的成本。因此，我们的目标是打造一个统一的、智能的视频识别平台，通过实时检测、灵活配置和AI辅助决策，为安防监控提供一套完整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图。整个系统从下至上分为七层。最底层是视频源层，负责接入各种视频输入。往上是视觉检测层，我们创新性地采用了YOLO和视频理解双模型方案。再往上是目标跟踪层和规则引擎层，负责处理识别到的目标并应用安防规则。信号输出层负责将结果以标准格式输出。最上层是前端展示层和管理运维层，提供了直观的用户界面和便捷的运维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我们项目所使用的核心技术栈。后端我们采用了Python生态中最先进的FastAPI框架，保证了高性能和开发效率。视觉算法方面，我们整合了YOLOv8和OpenCV等成熟库。前端则采用原生技术结合ECharts等库，保证了界面的流畅和美观。此外，我们还引入了AI Agent，实现了本地规则与云端大模型的混合决策。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为了方便系统集成和二次开发，我们设计了一套完整的RESTful API。这些接口分为核心接口和管理接口两大类。核心接口主要负责数据的输入输出，如检测数据上传、信号获取、视频流播放等。管理接口则用于系统配置、状态查询和调试。清晰的API设计使得我们的平台可以轻松地与其他系统对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一段时间的努力，我们的项目取得了显著的成果。我们成功支持了两个核心业务场景，实现了两套技术方案的灵活切换，并提供了超过15个API接口。在性能方面，系统的端到端延迟低于100毫秒，跟踪准确率超过95%。这些成果的背后，是我们构建的实时检测、多场景规则引擎、配置驱动架构等一系列核心能力。底部展示的是我们系统的主界面，集成了实时监控矩阵与设备状态看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主要面向两大核心业务场景：园区围栏和仓库码头。在园区围栏场景，系统能够实时检测人员翻越围栏、在禁区滞留等行为。在仓库码头场景，系统则专注于监控作业区域的人员滞留和异常活动。这些功能都支持灵活的规则配置，以适应不同的现场需求。大家可以看到右边的截图，这就是我们系统实际运行时的监控界面，直观地展示了这些场景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项目的亮点和创新点主要体现在以下几个方面：首先是双方案并存的架构，兼顾了速度和精度；其次是统一的接口设计和配置驱动架构，大大提升了系统的灵活性和可维护性；此外，我们对跟踪算法的优化、AI Agent的集成以及热重载机制的实现，都构成了我们平台的核心竞争力。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最后，对项目进行总结与展望。我们成功完成了平台的商业化改造，实现了预定的目标，并且系统具备良好的扩展性和可维护性。展望未来，我们计划接入更多先进的视频理解模型，增强AI Agent的决策能力，并将平台推广到更多的业务场景中。同时，我们也会持续优化性能，完善运维体系，为用户提供更强大、更可靠的智能安防解决方案。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theme" Target="../theme/theme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tags" Target="../tags/tag9.xml"/><Relationship Id="rId7" Type="http://schemas.openxmlformats.org/officeDocument/2006/relationships/tags" Target="../tags/tag10.xml"/><Relationship Id="rId8" Type="http://schemas.openxmlformats.org/officeDocument/2006/relationships/slideLayout" Target="../slideLayouts/slideLayout15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tags" Target="../tags/tag14.xml"/><Relationship Id="rId7" Type="http://schemas.openxmlformats.org/officeDocument/2006/relationships/tags" Target="../tags/tag15.xml"/><Relationship Id="rId8" Type="http://schemas.openxmlformats.org/officeDocument/2006/relationships/tags" Target="../tags/tag16.xml"/><Relationship Id="rId9" Type="http://schemas.openxmlformats.org/officeDocument/2006/relationships/tags" Target="../tags/tag17.xml"/><Relationship Id="rId10" Type="http://schemas.openxmlformats.org/officeDocument/2006/relationships/tags" Target="../tags/tag18.xml"/><Relationship Id="rId11" Type="http://schemas.openxmlformats.org/officeDocument/2006/relationships/image" Target="../media/image8.png"/><Relationship Id="rId12" Type="http://schemas.openxmlformats.org/officeDocument/2006/relationships/image" Target="../media/image9.svg"/><Relationship Id="rId13" Type="http://schemas.openxmlformats.org/officeDocument/2006/relationships/tags" Target="../tags/tag19.xml"/><Relationship Id="rId14" Type="http://schemas.openxmlformats.org/officeDocument/2006/relationships/tags" Target="../tags/tag20.xml"/><Relationship Id="rId15" Type="http://schemas.openxmlformats.org/officeDocument/2006/relationships/image" Target="../media/image5.png"/><Relationship Id="rId16" Type="http://schemas.openxmlformats.org/officeDocument/2006/relationships/slideLayout" Target="../slideLayouts/slideLayout12.xml"/><Relationship Id="rId1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tags" Target="../tags/tag25.xml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4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8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2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8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5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9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26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22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24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23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27.xm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37160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27432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27432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6960" y="27432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0" y="27432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27432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 视频识别信号平台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6B6D4"/>
                </a:solidFill>
                <a:latin typeface="Microsoft YaHei"/>
              </a:defRPr>
            </a:pPr>
            <a:r>
              <a:t>基于深度学习的智能安防监控系统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657600"/>
            <a:ext cx="30175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第四组  |  2026年5月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029200"/>
            <a:ext cx="1371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029200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实时检测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5029200"/>
            <a:ext cx="1371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5029200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智能告警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5029200"/>
            <a:ext cx="1371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5029200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双引擎架构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5029200"/>
            <a:ext cx="1371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5029200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配置驱动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5029200"/>
            <a:ext cx="1371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5029200"/>
            <a:ext cx="13716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AI Agent</a:t>
            </a:r>
          </a:p>
        </p:txBody>
      </p:sp>
    </p:spTree>
  </p:cSld>
  <p:clrMapOvr>
    <a:masterClrMapping/>
  </p:clrMapOvr>
  <p:transition advTm="800">
    <p:push spdm="0"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项目背景与定位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4708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市场痛点与项目目标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286000"/>
            <a:ext cx="43891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50876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系统整体架构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84708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7层技术架构设计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286000"/>
            <a:ext cx="43891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78892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双方案商业化改造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2724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YOLO+视频理解双引擎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566160"/>
            <a:ext cx="43891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0" y="283464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8346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8892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技术实现与接口设计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2724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API接口·配置驱动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3566160"/>
            <a:ext cx="43891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6908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项目成果展示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40740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系统功能演示截图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4846320"/>
            <a:ext cx="43891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17920" y="411480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1148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06908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总结与未来展望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40740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创新点·规划</a:t>
            </a:r>
          </a:p>
        </p:txBody>
      </p:sp>
    </p:spTree>
  </p:cSld>
  <p:clrMapOvr>
    <a:masterClrMapping/>
  </p:clrMapOvr>
  <p:transition advTm="6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项目背景与定位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从传统监控到AI智能安防的转型需求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3200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传统安防监控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依赖人工值守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响应速度慢，容易遗漏关键事件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08760"/>
            <a:ext cx="32004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9164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现有AI方案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单一算法局限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难以适应复杂多变的安防场景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371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508760"/>
            <a:ext cx="32004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169164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厂商系统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01168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接口不统一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3774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集成成本高，维护困难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91840"/>
            <a:ext cx="1088136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项目建设目标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构建面向安防场景的视频识别信号平台，实现从视频源到信号输出的完整链路闭环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2000"/>
            <a:ext cx="2560320" cy="685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256032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实时检测与告警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572000"/>
            <a:ext cx="2560320" cy="6858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572000"/>
            <a:ext cx="256032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配置驱动架构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72000"/>
            <a:ext cx="256032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572000"/>
            <a:ext cx="256032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统一接口规范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39" y="4572000"/>
            <a:ext cx="256032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39" y="4572000"/>
            <a:ext cx="256032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Agent辅助决策</a:t>
            </a:r>
          </a:p>
        </p:txBody>
      </p:sp>
    </p:spTree>
  </p:cSld>
  <p:clrMapOvr>
    <a:masterClrMapping/>
  </p:clrMapOvr>
  <p:transition advTm="700">
    <p:push spdm="0"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系统整体架构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7层技术架构设计，从视频源到信号输出的完整链路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4864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6B6D4"/>
                </a:solidFill>
                <a:latin typeface="Microsoft YaHei"/>
              </a:defRPr>
            </a:pPr>
            <a:r>
              <a:t>视频源层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1344168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344168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64792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80160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支持摄像头实时流、视频文件、图片序列等多种输入源接入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984248"/>
            <a:ext cx="1088136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984248"/>
            <a:ext cx="54864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029968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视觉检测层</a:t>
            </a:r>
          </a:p>
        </p:txBody>
      </p:sp>
      <p:sp>
        <p:nvSpPr>
          <p:cNvPr id="17" name="Oval 16"/>
          <p:cNvSpPr/>
          <p:nvPr/>
        </p:nvSpPr>
        <p:spPr>
          <a:xfrm>
            <a:off x="2560320" y="2093976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2093976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514600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029968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双方案并存架构，集成YOLO目标检测与视频理解模型，支持动态切换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734056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734056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779776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目标跟踪层</a:t>
            </a:r>
          </a:p>
        </p:txBody>
      </p:sp>
      <p:sp>
        <p:nvSpPr>
          <p:cNvPr id="24" name="Oval 23"/>
          <p:cNvSpPr/>
          <p:nvPr/>
        </p:nvSpPr>
        <p:spPr>
          <a:xfrm>
            <a:off x="2560320" y="2843784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843784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264408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779776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采用IoU Greedy Tracker算法，确保多目标场景下的稳定跟踪与ID保持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483864"/>
            <a:ext cx="1088136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483864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529584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规则引擎层</a:t>
            </a:r>
          </a:p>
        </p:txBody>
      </p:sp>
      <p:sp>
        <p:nvSpPr>
          <p:cNvPr id="31" name="Oval 30"/>
          <p:cNvSpPr/>
          <p:nvPr/>
        </p:nvSpPr>
        <p:spPr>
          <a:xfrm>
            <a:off x="2560320" y="359359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3593592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014216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529584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内置Boundary边界入侵、Dwell滞留时间检测及Cooldown冷却机制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233672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233672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279392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信号输出层</a:t>
            </a:r>
          </a:p>
        </p:txBody>
      </p:sp>
      <p:sp>
        <p:nvSpPr>
          <p:cNvPr id="38" name="Oval 37"/>
          <p:cNvSpPr/>
          <p:nvPr/>
        </p:nvSpPr>
        <p:spPr>
          <a:xfrm>
            <a:off x="2560320" y="43434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434340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764024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279392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标准化JSON格式告警信号输出，支持中英文双语，便于第三方集成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983479"/>
            <a:ext cx="1088136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983479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029199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前端展示层</a:t>
            </a:r>
          </a:p>
        </p:txBody>
      </p:sp>
      <p:sp>
        <p:nvSpPr>
          <p:cNvPr id="45" name="Oval 44"/>
          <p:cNvSpPr/>
          <p:nvPr/>
        </p:nvSpPr>
        <p:spPr>
          <a:xfrm>
            <a:off x="2560320" y="5093207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0" y="5093207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5513831"/>
            <a:ext cx="320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029199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2×2实时监控矩阵，配合动态告警列表与数据可视化大屏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733288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5733288"/>
            <a:ext cx="54864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779008"/>
            <a:ext cx="1828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管理运维层</a:t>
            </a:r>
          </a:p>
        </p:txBody>
      </p:sp>
      <p:sp>
        <p:nvSpPr>
          <p:cNvPr id="52" name="Oval 51"/>
          <p:cNvSpPr/>
          <p:nvPr/>
        </p:nvSpPr>
        <p:spPr>
          <a:xfrm>
            <a:off x="2560320" y="5843016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5843016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779008"/>
            <a:ext cx="8046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配置热重载、全链路运行状态监控，集成AI Agent智能助手</a:t>
            </a:r>
          </a:p>
        </p:txBody>
      </p:sp>
    </p:spTree>
  </p:cSld>
  <p:clrMapOvr>
    <a:masterClrMapping/>
  </p:clrMapOvr>
  <p:transition advTm="700">
    <p:cover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双方案商业化架构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YOLO目标检测 + 视频理解双引擎，灵活切换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方案一：YOLO目标检测 (轻量高效)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基于Ultralytics YOLOv8深度学习模型，精度与速度平衡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实时目标检测能力，单帧处理延迟控制在50ms以内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集成IoU Greedy Tracker算法，实现跨帧目标稳定跟踪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支持人、车、动物等多类别目标识别，适应多种监控场景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架构轻量，适合边缘端部署，资源占用率低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Pipeline: Frame → Detections → Tracking → Rules →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5448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方案二：视频理解模型 (深度语义)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基于MiMo视频理解大模型，具备更强的时空特征提取能力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输出高层次语义事件，不仅是目标识别，更理解行为逻辑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采用VisionRuleEvent统一事件结构，标准化上下游数据交互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擅长处理复杂遮挡、光线变化等极端场景，鲁棒性更强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支持云端弹性API调用，内置超时熔断机制，保障系统稳定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06240"/>
            <a:ext cx="475488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06240"/>
            <a:ext cx="47548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Pipeline: Frame → Video Understanding → VisionRuleEvent → Rules</a:t>
            </a:r>
          </a:p>
        </p:txBody>
      </p:sp>
      <p:sp>
        <p:nvSpPr>
          <p:cNvPr id="19" name="Oval 18"/>
          <p:cNvSpPr/>
          <p:nvPr/>
        </p:nvSpPr>
        <p:spPr>
          <a:xfrm>
            <a:off x="5623560" y="3200400"/>
            <a:ext cx="914400" cy="914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200400"/>
            <a:ext cx="9144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VS</a:t>
            </a:r>
          </a:p>
        </p:txBody>
      </p:sp>
    </p:spTree>
  </p:cSld>
  <p:clrMapOvr>
    <a:masterClrMapping/>
  </p:clrMapOvr>
  <p:transition advTm="700">
    <p:split orient="horz" dir="ou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技术栈详解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高性能异步后端 + 轻量前端 + 深度学习视觉引擎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6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4864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后端框架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Python 3.13 + FastAPI 0.115 + Uvicorn 0.34，异步高性能架构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486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6304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</a:pPr>
            <a:r>
              <a:t>数据验证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288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Pydantic v2 强类型安全，自动生成交互式 API 文档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060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0604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9748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视觉算法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6324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Ultralytics YOLOv8.3 + OpenCV 4.11，识别精度与速度保障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060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60604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69748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目标跟踪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6324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自研IoU Tracker，匹配阈值0.1，支持60帧目标记忆与关联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4048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319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数据存储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9768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SQLite轻量数据库 + YAML配置驱动，零依赖轻量部署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54864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319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前端交互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9768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原生HTML5/CSS3/JS + ECharts 5.5数据可视化大屏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7492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74920"/>
            <a:ext cx="5486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Microsoft YaHei"/>
              </a:defRPr>
            </a:pPr>
            <a:r>
              <a:t>流媒体传输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53212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MJPEG流式传输协议，稳定承载多路高并发视频流接入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07492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5074920"/>
            <a:ext cx="54864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166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智能决策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53212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 Agent架构，本地规则引擎与云端大模型混合决策</a:t>
            </a:r>
          </a:p>
        </p:txBody>
      </p:sp>
    </p:spTree>
  </p:cSld>
  <p:clrMapOvr>
    <a:masterClrMapping/>
  </p:clrMapOvr>
  <p:transition advTm="6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API接口设计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完整的RESTful API，覆盖核心·管理·调试三大类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核心接口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POST /ingest/detections — 检测数据输入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/signals/output/{scene_id} — 场景信号输出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/signals/scenes/{scene_id} — 场景信号详情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/stream/{camera_id} — MJPEG视频流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/alerts — 告警事件列表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/alerts/history — 历史告警查询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544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管理接口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/config/rules — 规则配置读取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POST /config/reload — 配置热重载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/runtime/status — 运行状态查询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GET  /vision/backend/status — 视觉后端状态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POST /vision/backend/activate — 切换视觉方案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POST /agent/chat — AI Agent对话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POST /debug/upload-video — 视频上传调试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4748B"/>
                </a:solidFill>
                <a:latin typeface="Microsoft YaHei"/>
              </a:defRPr>
            </a:pPr>
            <a:r>
              <a:t>共计 15+ API接口，覆盖数据输入·信号输出·视频流·告警·配置·调试·AI交互全流程</a:t>
            </a:r>
          </a:p>
        </p:txBody>
      </p:sp>
    </p:spTree>
  </p:cSld>
  <p:clrMapOvr>
    <a:masterClrMapping/>
  </p:clrMapOvr>
  <p:transition advTm="700">
    <p:push spdm="0"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项目成果展示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46120"/>
            <a:ext cx="21031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系统登录 · 监控矩阵 · 告警大屏 · 事件回看 · AI Agent · 运维管理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6B6D4"/>
                </a:solidFill>
                <a:latin typeface="Microsoft YaHei"/>
              </a:defRPr>
            </a:pPr>
            <a:r>
              <a:t>以下为系统实际运行截图，展示完整业务流程</a:t>
            </a:r>
          </a:p>
        </p:txBody>
      </p:sp>
    </p:spTree>
  </p:cSld>
  <p:clrMapOvr>
    <a:masterClrMapping/>
  </p:clrMapOvr>
  <p:transition advTm="800">
    <p:push spdm="0"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32004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6" name="AutoShape 3"/>
          <p:cNvSpPr/>
          <p:nvPr/>
        </p:nvSpPr>
        <p:spPr>
          <a:xfrm>
            <a:off x="581025" y="32004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平台页面</a:t>
            </a:r>
            <a:r>
              <a:rPr lang="zh-CN" altLang="en-US" sz="3200" b="1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</a:t>
            </a:r>
            <a:endParaRPr lang="zh-CN" altLang="en-US" sz="3200" b="1" i="0" u="none" strike="noStrike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图片 6" descr="屏幕截图 2026-05-17 125320"/>
          <p:cNvPicPr>
            <a:picLocks noChangeAspect="1"/>
          </p:cNvPicPr>
          <p:nvPr/>
        </p:nvPicPr>
        <p:blipFill>
          <a:blip r:embed="rId3"/>
          <a:srcRect l="29204" t="20512" r="31346" b="18385"/>
          <a:stretch>
            <a:fillRect/>
          </a:stretch>
        </p:blipFill>
        <p:spPr>
          <a:xfrm>
            <a:off x="1333500" y="4442460"/>
            <a:ext cx="2559685" cy="2245360"/>
          </a:xfrm>
          <a:prstGeom prst="rect">
            <a:avLst/>
          </a:prstGeom>
        </p:spPr>
      </p:pic>
      <p:pic>
        <p:nvPicPr>
          <p:cNvPr id="9" name="图片 8" descr="屏幕截图 2026-05-17 1253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1460500"/>
            <a:ext cx="4383405" cy="2476500"/>
          </a:xfrm>
          <a:prstGeom prst="rect">
            <a:avLst/>
          </a:prstGeom>
        </p:spPr>
      </p:pic>
      <p:pic>
        <p:nvPicPr>
          <p:cNvPr id="10" name="图片 9" descr="屏幕截图 2026-05-17 1254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540" y="2649220"/>
            <a:ext cx="6988810" cy="3958590"/>
          </a:xfrm>
          <a:prstGeom prst="rect">
            <a:avLst/>
          </a:prstGeom>
        </p:spPr>
      </p:pic>
      <p:sp>
        <p:nvSpPr>
          <p:cNvPr id="12" name="AutoShape 5"/>
          <p:cNvSpPr/>
          <p:nvPr>
            <p:custDataLst>
              <p:tags r:id="rId6"/>
            </p:custDataLst>
          </p:nvPr>
        </p:nvSpPr>
        <p:spPr>
          <a:xfrm>
            <a:off x="436880" y="955040"/>
            <a:ext cx="1998980" cy="424815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未登录前</a:t>
            </a:r>
            <a:r>
              <a:rPr lang="zh-CN" alt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页面</a:t>
            </a:r>
            <a:endParaRPr lang="zh-CN" altLang="en-US" sz="2000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6880" y="4442460"/>
            <a:ext cx="675005" cy="11582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32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登</a:t>
            </a:r>
            <a:r>
              <a:rPr lang="en-US" altLang="zh-CN" sz="32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  </a:t>
            </a:r>
            <a:r>
              <a:rPr lang="zh-CN" altLang="en-US" sz="32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录</a:t>
            </a:r>
            <a:endParaRPr lang="zh-CN" altLang="en-US" sz="3200"/>
          </a:p>
        </p:txBody>
      </p:sp>
      <p:sp>
        <p:nvSpPr>
          <p:cNvPr id="16" name="AutoShape 5"/>
          <p:cNvSpPr/>
          <p:nvPr>
            <p:custDataLst>
              <p:tags r:id="rId7"/>
            </p:custDataLst>
          </p:nvPr>
        </p:nvSpPr>
        <p:spPr>
          <a:xfrm>
            <a:off x="4955540" y="2098675"/>
            <a:ext cx="1998980" cy="424815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登录</a:t>
            </a:r>
            <a:r>
              <a:rPr lang="zh-CN" altLang="en-US" sz="28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后页面</a:t>
            </a:r>
            <a:endParaRPr lang="zh-CN" altLang="en-US" sz="2800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9 / 28</a:t>
            </a:r>
          </a:p>
        </p:txBody>
      </p:sp>
    </p:spTree>
  </p:cSld>
  <p:clrMapOvr>
    <a:masterClrMapping/>
  </p:clrMapOvr>
  <p:transition advTm="600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441515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6" name="AutoShape 3"/>
          <p:cNvSpPr/>
          <p:nvPr/>
        </p:nvSpPr>
        <p:spPr>
          <a:xfrm>
            <a:off x="508000" y="444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</a:t>
            </a:r>
            <a:r>
              <a:rPr lang="zh-CN" altLang="en-US" sz="3200" b="1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注入</a:t>
            </a:r>
            <a:endParaRPr lang="zh-CN" altLang="en-US" sz="3200" b="1" i="0" u="none" strike="noStrike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 descr="屏幕截图 2026-05-17 1254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" y="1536065"/>
            <a:ext cx="5161915" cy="3821430"/>
          </a:xfrm>
          <a:prstGeom prst="rect">
            <a:avLst/>
          </a:prstGeom>
        </p:spPr>
      </p:pic>
      <p:pic>
        <p:nvPicPr>
          <p:cNvPr id="7" name="图片 6" descr="屏幕截图 2026-05-17 1255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190" y="1574800"/>
            <a:ext cx="6717665" cy="37826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10 / 28</a:t>
            </a:r>
          </a:p>
        </p:txBody>
      </p:sp>
    </p:spTree>
  </p:cSld>
  <p:clrMapOvr>
    <a:masterClrMapping/>
  </p:clrMapOvr>
  <p:transition advTm="6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核心业务场景与智能监控应用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397000"/>
            <a:ext cx="5334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406400" cy="406400"/>
          </a:xfrm>
          <a:prstGeom prst="ellipse">
            <a:avLst/>
          </a:prstGeom>
          <a:solidFill>
            <a:srgbClr val="00D4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17272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园区围栏安全管控场景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2159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翻越检测：实时识别人员恶意翻越围栏行为，瞬间告警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区域滞留：精准定位禁区内人员长时间逗留，预防安全隐患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灵活配置：支持多摄像头联动，ROI区域支持多边形绘制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警戒线规则：支持单向/双向跨越逻辑，适应不同防控需求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508000" y="4064000"/>
            <a:ext cx="5334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7B2C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762000" y="4318000"/>
            <a:ext cx="406400" cy="406400"/>
          </a:xfrm>
          <a:prstGeom prst="ellipse">
            <a:avLst/>
          </a:prstGeom>
          <a:solidFill>
            <a:srgbClr val="7B2CB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" y="43942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13335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仓库码头作业安全场景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62000" y="4826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B86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作业监控：针对码头/仓库特定作业区，监控人员异常滞留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BB86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行为分析：检测仓库内非作业时间的异常人员活动与徘徊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BB86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精细化管理：支持自定义作业时间规则，多区域并发监控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BB86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阈值可调：滞留时间阈值支持配置，默认5秒触发合规预警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96000" y="1397000"/>
            <a:ext cx="5588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22" name="图片 21" descr="屏幕截图 2026-05-17 1255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0940" y="1727200"/>
            <a:ext cx="5433060" cy="431863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11 / 28</a:t>
            </a:r>
          </a:p>
        </p:txBody>
      </p:sp>
    </p:spTree>
  </p:cSld>
  <p:clrMapOvr>
    <a:masterClrMapping/>
  </p:clrMapOvr>
  <p:transition advTm="600">
    <p:push spdm="0"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园区围栏安全管控场景</a:t>
            </a: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79070" y="1152525"/>
            <a:ext cx="1998980" cy="424815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滞留阈值设置</a:t>
            </a:r>
            <a:endParaRPr lang="en-US" sz="2000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192780" y="1304290"/>
            <a:ext cx="7800340" cy="939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4"/>
            </p:custDataLst>
          </p:nvPr>
        </p:nvSpPr>
        <p:spPr>
          <a:xfrm>
            <a:off x="13335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4" name="图片 3" descr="屏幕截图 2026-05-17 1258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" y="1717675"/>
            <a:ext cx="12101830" cy="1322070"/>
          </a:xfrm>
          <a:prstGeom prst="rect">
            <a:avLst/>
          </a:prstGeom>
        </p:spPr>
      </p:pic>
      <p:pic>
        <p:nvPicPr>
          <p:cNvPr id="16" name="图片 15" descr="屏幕截图 2026-05-17 1258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" y="3818890"/>
            <a:ext cx="11640820" cy="2775585"/>
          </a:xfrm>
          <a:prstGeom prst="rect">
            <a:avLst/>
          </a:prstGeom>
        </p:spPr>
      </p:pic>
      <p:sp>
        <p:nvSpPr>
          <p:cNvPr id="19" name="AutoShape 5"/>
          <p:cNvSpPr/>
          <p:nvPr>
            <p:custDataLst>
              <p:tags r:id="rId7"/>
            </p:custDataLst>
          </p:nvPr>
        </p:nvSpPr>
        <p:spPr>
          <a:xfrm>
            <a:off x="245745" y="3216910"/>
            <a:ext cx="1998980" cy="424815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滞留</a:t>
            </a:r>
            <a:r>
              <a:rPr lang="zh-CN" alt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区域</a:t>
            </a:r>
            <a:r>
              <a:rPr 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设置</a:t>
            </a:r>
            <a:endParaRPr lang="en-US" sz="2000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12 / 28</a:t>
            </a:r>
          </a:p>
        </p:txBody>
      </p:sp>
    </p:spTree>
  </p:cSld>
  <p:clrMapOvr>
    <a:masterClrMapping/>
  </p:clrMapOvr>
  <p:transition advTm="600">
    <p:cover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1333500" y="1397000"/>
            <a:ext cx="3810000" cy="4527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4" name="图片 3" descr="屏幕截图 2026-05-17 1440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855" y="0"/>
            <a:ext cx="8162290" cy="6858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13 / 28</a:t>
            </a:r>
          </a:p>
        </p:txBody>
      </p:sp>
    </p:spTree>
  </p:cSld>
  <p:clrMapOvr>
    <a:masterClrMapping/>
  </p:clrMapOvr>
  <p:transition advTm="600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仓库码头作业安全场景</a:t>
            </a: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5"/>
          <p:cNvSpPr/>
          <p:nvPr>
            <p:custDataLst>
              <p:tags r:id="rId3"/>
            </p:custDataLst>
          </p:nvPr>
        </p:nvSpPr>
        <p:spPr>
          <a:xfrm>
            <a:off x="508000" y="1146175"/>
            <a:ext cx="1998980" cy="424815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滞留阈值设置</a:t>
            </a:r>
            <a:endParaRPr lang="en-US" sz="2000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AutoShape 5"/>
          <p:cNvSpPr/>
          <p:nvPr>
            <p:custDataLst>
              <p:tags r:id="rId4"/>
            </p:custDataLst>
          </p:nvPr>
        </p:nvSpPr>
        <p:spPr>
          <a:xfrm>
            <a:off x="508000" y="2877820"/>
            <a:ext cx="1998980" cy="424815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滞留</a:t>
            </a:r>
            <a:r>
              <a:rPr lang="zh-CN" alt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区域</a:t>
            </a:r>
            <a:r>
              <a:rPr lang="en-US" sz="2000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设置</a:t>
            </a:r>
            <a:endParaRPr lang="en-US" sz="2000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图片 15" descr="屏幕截图 2026-05-17 125952"/>
          <p:cNvPicPr>
            <a:picLocks noChangeAspect="1"/>
          </p:cNvPicPr>
          <p:nvPr/>
        </p:nvPicPr>
        <p:blipFill>
          <a:blip r:embed="rId5"/>
          <a:srcRect l="2729" t="8499" r="10777" b="21551"/>
          <a:stretch>
            <a:fillRect/>
          </a:stretch>
        </p:blipFill>
        <p:spPr>
          <a:xfrm>
            <a:off x="413385" y="3429000"/>
            <a:ext cx="4790440" cy="3287395"/>
          </a:xfrm>
          <a:prstGeom prst="rect">
            <a:avLst/>
          </a:prstGeom>
        </p:spPr>
      </p:pic>
      <p:pic>
        <p:nvPicPr>
          <p:cNvPr id="17" name="图片 16" descr="屏幕截图 2026-05-17 1300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35" y="1757045"/>
            <a:ext cx="8355330" cy="9944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14 / 28</a:t>
            </a:r>
          </a:p>
        </p:txBody>
      </p:sp>
    </p:spTree>
  </p:cSld>
  <p:clrMapOvr>
    <a:masterClrMapping/>
  </p:clrMapOvr>
  <p:transition advTm="600">
    <p:push spdm="0"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5" name="图片 4" descr="屏幕截图 2026-05-17 144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155" y="301625"/>
            <a:ext cx="7236460" cy="62553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79500" y="2603500"/>
            <a:ext cx="798195" cy="1511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000">
                <a:solidFill>
                  <a:schemeClr val="bg1"/>
                </a:solidFill>
              </a:rPr>
              <a:t>仓</a:t>
            </a:r>
            <a:r>
              <a:rPr lang="en-US" altLang="zh-CN" sz="4000">
                <a:solidFill>
                  <a:schemeClr val="bg1"/>
                </a:solidFill>
              </a:rPr>
              <a:t>  </a:t>
            </a:r>
            <a:r>
              <a:rPr lang="zh-CN" altLang="en-US" sz="4000">
                <a:solidFill>
                  <a:schemeClr val="bg1"/>
                </a:solidFill>
              </a:rPr>
              <a:t>库</a:t>
            </a:r>
            <a:endParaRPr lang="zh-CN" altLang="en-US" sz="400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15 / 28</a:t>
            </a:r>
          </a:p>
        </p:txBody>
      </p:sp>
    </p:spTree>
  </p:cSld>
  <p:clrMapOvr>
    <a:masterClrMapping/>
  </p:clrMapOvr>
  <p:transition advTm="6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1079500" y="2603500"/>
            <a:ext cx="798195" cy="1511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4000">
                <a:solidFill>
                  <a:schemeClr val="bg1"/>
                </a:solidFill>
              </a:rPr>
              <a:t>码</a:t>
            </a:r>
            <a:r>
              <a:rPr lang="en-US" altLang="zh-CN" sz="4000">
                <a:solidFill>
                  <a:schemeClr val="bg1"/>
                </a:solidFill>
              </a:rPr>
              <a:t>  </a:t>
            </a:r>
            <a:r>
              <a:rPr lang="zh-CN" altLang="en-US" sz="4000">
                <a:solidFill>
                  <a:schemeClr val="bg1"/>
                </a:solidFill>
              </a:rPr>
              <a:t>头</a:t>
            </a:r>
            <a:r>
              <a:rPr lang="en-US" altLang="zh-CN" sz="4000">
                <a:solidFill>
                  <a:schemeClr val="bg1"/>
                </a:solidFill>
              </a:rPr>
              <a:t>  </a:t>
            </a:r>
            <a:endParaRPr lang="zh-CN" altLang="en-US" sz="4000">
              <a:solidFill>
                <a:schemeClr val="bg1"/>
              </a:solidFill>
            </a:endParaRPr>
          </a:p>
        </p:txBody>
      </p:sp>
      <p:pic>
        <p:nvPicPr>
          <p:cNvPr id="4" name="图片 3" descr="屏幕截图 2026-05-17 144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330" y="297180"/>
            <a:ext cx="7240905" cy="62642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16 / 28</a:t>
            </a:r>
          </a:p>
        </p:txBody>
      </p:sp>
    </p:spTree>
  </p:cSld>
  <p:clrMapOvr>
    <a:masterClrMapping/>
  </p:clrMapOvr>
  <p:transition advTm="600">
    <p:cover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4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571500"/>
            <a:ext cx="22002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告警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大屏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屏幕截图 2026-05-17 130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982345"/>
            <a:ext cx="9096375" cy="57035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0665" y="1722120"/>
            <a:ext cx="2438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翻越围栏等级：</a:t>
            </a:r>
            <a:r>
              <a:rPr lang="en-US" altLang="zh-CN">
                <a:solidFill>
                  <a:schemeClr val="bg1"/>
                </a:solidFill>
              </a:rPr>
              <a:t>HIGH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人员滞留等级：</a:t>
            </a:r>
            <a:r>
              <a:rPr lang="en-US" altLang="zh-CN">
                <a:solidFill>
                  <a:schemeClr val="bg1"/>
                </a:solidFill>
              </a:rPr>
              <a:t>MEDIUM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0665" y="2974975"/>
            <a:ext cx="1370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监控设备</a:t>
            </a:r>
            <a:endParaRPr lang="zh-CN" altLang="en-US" sz="2000">
              <a:solidFill>
                <a:schemeClr val="bg1"/>
              </a:solidFill>
            </a:endParaRPr>
          </a:p>
        </p:txBody>
      </p:sp>
      <p:pic>
        <p:nvPicPr>
          <p:cNvPr id="9" name="图片 8" descr="屏幕截图 2026-05-17 130139"/>
          <p:cNvPicPr>
            <a:picLocks noChangeAspect="1"/>
          </p:cNvPicPr>
          <p:nvPr/>
        </p:nvPicPr>
        <p:blipFill>
          <a:blip r:embed="rId4"/>
          <a:srcRect l="32340" t="4102" r="52916" b="75891"/>
          <a:stretch>
            <a:fillRect/>
          </a:stretch>
        </p:blipFill>
        <p:spPr>
          <a:xfrm>
            <a:off x="84455" y="3428365"/>
            <a:ext cx="2750185" cy="31419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17 / 28</a:t>
            </a:r>
          </a:p>
        </p:txBody>
      </p:sp>
    </p:spTree>
  </p:cSld>
  <p:clrMapOvr>
    <a:masterClrMapping/>
  </p:clrMapOvr>
  <p:transition advTm="600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571500"/>
            <a:ext cx="35483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告警大屏事件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导出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1295400"/>
            <a:ext cx="6866890" cy="53924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18 / 28</a:t>
            </a:r>
          </a:p>
        </p:txBody>
      </p:sp>
    </p:spTree>
  </p:cSld>
  <p:clrMapOvr>
    <a:masterClrMapping/>
  </p:clrMapOvr>
  <p:transition advTm="600">
    <p:push spdm="0"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715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347345"/>
            <a:ext cx="31470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数据可视化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看板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5" y="1341755"/>
            <a:ext cx="10147300" cy="51047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19 / 28</a:t>
            </a:r>
          </a:p>
        </p:txBody>
      </p:sp>
    </p:spTree>
  </p:cSld>
  <p:clrMapOvr>
    <a:masterClrMapping/>
  </p:clrMapOvr>
  <p:transition advTm="600">
    <p:split orient="horz" dir="ou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571500"/>
            <a:ext cx="22002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回看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屏幕截图 2026-05-17 1302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45" y="0"/>
            <a:ext cx="7077075" cy="6858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20 / 28</a:t>
            </a:r>
          </a:p>
        </p:txBody>
      </p:sp>
    </p:spTree>
  </p:cSld>
  <p:clrMapOvr>
    <a:masterClrMapping/>
  </p:clrMapOvr>
  <p:transition advTm="6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571500"/>
            <a:ext cx="35483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视频分析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结果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562100"/>
            <a:ext cx="11334750" cy="398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21 / 28</a:t>
            </a:r>
          </a:p>
        </p:txBody>
      </p:sp>
    </p:spTree>
  </p:cSld>
  <p:clrMapOvr>
    <a:masterClrMapping/>
  </p:clrMapOvr>
  <p:transition advTm="600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508000" y="295910"/>
            <a:ext cx="31394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事件回看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播放器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屏幕截图 2026-05-17 130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50" y="1050290"/>
            <a:ext cx="10144760" cy="58077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22 / 28</a:t>
            </a:r>
          </a:p>
        </p:txBody>
      </p:sp>
    </p:spTree>
  </p:cSld>
  <p:clrMapOvr>
    <a:masterClrMapping/>
  </p:clrMapOvr>
  <p:transition advTm="600">
    <p:cover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508000" y="263525"/>
            <a:ext cx="267398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智能决策</a:t>
            </a:r>
            <a:r>
              <a:rPr lang="en-US" altLang="zh-CN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</a:t>
            </a:r>
            <a:r>
              <a:rPr lang="en-US" altLang="zh-CN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gent</a:t>
            </a:r>
            <a:endParaRPr lang="en-US" altLang="zh-CN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屏幕截图 2026-05-17 130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215" y="965200"/>
            <a:ext cx="9178290" cy="57257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23 / 28</a:t>
            </a:r>
          </a:p>
        </p:txBody>
      </p:sp>
    </p:spTree>
  </p:cSld>
  <p:clrMapOvr>
    <a:masterClrMapping/>
  </p:clrMapOvr>
  <p:transition advTm="600">
    <p:push spdm="0"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313055"/>
            <a:ext cx="50431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系统权限与用户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管理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屏幕截图 2026-05-17 130550"/>
          <p:cNvPicPr>
            <a:picLocks noChangeAspect="1"/>
          </p:cNvPicPr>
          <p:nvPr/>
        </p:nvPicPr>
        <p:blipFill>
          <a:blip r:embed="rId3"/>
          <a:srcRect r="2120" b="30927"/>
          <a:stretch>
            <a:fillRect/>
          </a:stretch>
        </p:blipFill>
        <p:spPr>
          <a:xfrm>
            <a:off x="242570" y="1261745"/>
            <a:ext cx="11548110" cy="3628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24 / 28</a:t>
            </a:r>
          </a:p>
        </p:txBody>
      </p:sp>
    </p:spTree>
  </p:cSld>
  <p:clrMapOvr>
    <a:masterClrMapping/>
  </p:clrMapOvr>
  <p:transition advTm="6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60000">
                <a:srgbClr val="1A1A2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13335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2"/>
            </p:custDataLst>
          </p:nvPr>
        </p:nvSpPr>
        <p:spPr>
          <a:xfrm>
            <a:off x="762000" y="2031365"/>
            <a:ext cx="4826000" cy="1167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488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5461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635000" y="571500"/>
            <a:ext cx="22002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569595" y="231775"/>
            <a:ext cx="355473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系统底层运行</a:t>
            </a:r>
            <a:r>
              <a:rPr lang="zh-CN" altLang="en-US" sz="3200" b="1">
                <a:solidFill>
                  <a:srgbClr val="00D4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日志</a:t>
            </a:r>
            <a:endParaRPr lang="zh-CN" altLang="en-US" sz="3200" b="1">
              <a:solidFill>
                <a:srgbClr val="00D4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图片 6" descr="屏幕截图 2026-05-17 1312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895" y="866775"/>
            <a:ext cx="9300210" cy="5835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25 / 28</a:t>
            </a:r>
          </a:p>
        </p:txBody>
      </p:sp>
    </p:spTree>
  </p:cSld>
  <p:clrMapOvr>
    <a:masterClrMapping/>
  </p:clrMapOvr>
  <p:transition advTm="600"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项目亮点与创新点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7大技术创新，打造差异化竞争优势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26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5448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38988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双方案并存架构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3736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YOLO检测+视频理解双方案，灵活切换，适应不同场景需求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15544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5448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38988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统一接口设计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73736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两套方案共用一套前端和API，极大降低开发与后期维护成本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51460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51460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7889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7889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2432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配置驱动架构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97180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基于YAML配置驱动，无需修改核心代码即可适配全新业务场景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1460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51460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29400" y="2788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7889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62432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IoU Tracker优化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7180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match_thresh=0.1低门槛匹配，60帧记忆，防止ID频繁切换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49039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749039"/>
            <a:ext cx="5486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4023359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23359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858767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AI Agent集成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206239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本地规则与云端模型混合决策，支持自然语言交互进行任务调度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749039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749039"/>
            <a:ext cx="54864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29400" y="4023359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023359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858767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热重载机制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206239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配置修改无需重启，POST /config/reload接口即时生效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98348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4983480"/>
            <a:ext cx="54864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8680" y="525780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25780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093208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标准化信号输出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44068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统一JSON格式，支持中英文双语标注，便于第三方系统集成</a:t>
            </a:r>
          </a:p>
        </p:txBody>
      </p:sp>
    </p:spTree>
  </p:cSld>
  <p:clrMapOvr>
    <a:masterClrMapping/>
  </p:clrMapOvr>
  <p:transition advTm="700">
    <p:push spdm="0"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548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项目成果回顾与未来发展方向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27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完成了AI视频识别信号平台的商业化改造，核心业务流程闭环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实现了双方案并存、统一前端的架构设计，提升了系统兼容性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提供了完整的监控、告警、信号输出能力，保障业务稳定性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具备良好的可扩展性和可维护性，降低了后期迭代成本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代码结构清晰，模块职责明确，符合企业级开发规范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A56DB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测试覆盖率高，文档完善，确保了交付质量与知识沉淀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544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接入更多视频理解模型API（GPT-4V、Claude等），强化核心AI能力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增强AI Agent决策能力，支持业务规则的自动化学习与优化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拓展业务边界，深度适配交通、商场、工厂等多样化监控场景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优化边缘端部署性能，通过算法剪枝降低硬件资源占用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增加分布式微服务部署支持，实现系统的水平弹性扩展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Microsoft YaHei"/>
              </a:rPr>
              <a:t>●  </a:t>
            </a:r>
            <a:r>
              <a:rPr sz="1100">
                <a:solidFill>
                  <a:srgbClr val="475569"/>
                </a:solidFill>
                <a:latin typeface="Microsoft YaHei"/>
              </a:rPr>
              <a:t>完善全链路监控运维体系，增加Metrics指标监控和分布式Tracing追踪</a:t>
            </a:r>
          </a:p>
        </p:txBody>
      </p:sp>
    </p:spTree>
  </p:cSld>
  <p:clrMapOvr>
    <a:masterClrMapping/>
  </p:clrMapOvr>
  <p:transition advTm="7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4748B"/>
                </a:solidFill>
                <a:latin typeface="Microsoft YaHei"/>
              </a:defRPr>
            </a:pPr>
            <a:r>
              <a:t>AI 视频识别信号平台  |  第四组  |  2026年5月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50292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50292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0" y="50292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07040" y="50292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47120" y="502920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Tm="800">
    <p:dissolve/>
  </p:transition>
</p:sld>
</file>

<file path=ppt/tags/tag1.xml><?xml version="1.0" encoding="utf-8"?>
<p:tagLst xmlns:p="http://schemas.openxmlformats.org/presentationml/2006/main">
  <p:tag name="KSO_WM_DIAGRAM_VIRTUALLY_FRAME" val="{&quot;height&quot;:340,&quot;left&quot;:36,&quot;top&quot;:100,&quot;width&quot;:886}"/>
</p:tagLst>
</file>

<file path=ppt/tags/tag2.xml><?xml version="1.0" encoding="utf-8"?>
<p:tagLst xmlns:p="http://schemas.openxmlformats.org/presentationml/2006/main">
  <p:tag name="KSO_WM_DIAGRAM_VIRTUALLY_FRAME" val="{&quot;height&quot;:340,&quot;left&quot;:36,&quot;top&quot;:100,&quot;width&quot;:886}"/>
</p:tagLst>
</file>

<file path=ppt/tags/tag3.xml><?xml version="1.0" encoding="utf-8"?>
<p:tagLst xmlns:p="http://schemas.openxmlformats.org/presentationml/2006/main">
  <p:tag name="KSO_WM_DIAGRAM_VIRTUALLY_FRAME" val="{&quot;height&quot;:340,&quot;left&quot;:36,&quot;top&quot;:100,&quot;width&quot;:886}"/>
</p:tagLst>
</file>

<file path=ppt/tags/tag4.xml><?xml version="1.0" encoding="utf-8"?>
<p:tagLst xmlns:p="http://schemas.openxmlformats.org/presentationml/2006/main">
  <p:tag name="KSO_WM_DIAGRAM_VIRTUALLY_FRAME" val="{&quot;height&quot;:340,&quot;left&quot;:36,&quot;top&quot;:100,&quot;width&quot;:886}"/>
</p:tagLst>
</file>

<file path=ppt/tags/tag5.xml><?xml version="1.0" encoding="utf-8"?>
<p:tagLst xmlns:p="http://schemas.openxmlformats.org/presentationml/2006/main">
  <p:tag name="KSO_WM_DIAGRAM_VIRTUALLY_FRAME" val="{&quot;height&quot;:340,&quot;left&quot;:36,&quot;top&quot;:100,&quot;width&quot;:886}"/>
</p:tagLst>
</file>

<file path=ppt/tags/tag6.xml><?xml version="1.0" encoding="utf-8"?>
<p:tagLst xmlns:p="http://schemas.openxmlformats.org/presentationml/2006/main">
  <p:tag name="KSO_WM_DIAGRAM_VIRTUALLY_FRAME" val="{&quot;height&quot;:340,&quot;left&quot;:36,&quot;top&quot;:100,&quot;width&quot;:886}"/>
</p:tagLst>
</file>

<file path=ppt/tags/tag7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8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9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0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1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2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3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4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5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6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7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8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19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0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1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2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3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4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5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6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7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8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29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0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1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2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3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4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5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6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7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8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39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0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1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2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3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4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5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6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7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8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49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50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51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52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53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ags/tag54.xml><?xml version="1.0" encoding="utf-8"?>
<p:tagLst xmlns:p="http://schemas.openxmlformats.org/presentationml/2006/main">
  <p:tag name="KSO_WM_DIAGRAM_VIRTUALLY_FRAME" val="{&quot;height&quot;:400,&quot;left&quot;:40,&quot;top&quot;:110,&quot;width&quot;:4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3044</Words>
  <Application>WPS 演示</Application>
  <PresentationFormat/>
  <Paragraphs>183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28</vt:i4>
      </vt:variant>
    </vt:vector>
  </HeadingPairs>
  <TitlesOfParts>
    <vt:vector size="58" baseType="lpstr">
      <vt:lpstr>Arial</vt:lpstr>
      <vt:lpstr>宋体</vt:lpstr>
      <vt:lpstr>Wingdings</vt:lpstr>
      <vt:lpstr>Arial</vt:lpstr>
      <vt:lpstr>仿宋_GB2312</vt:lpstr>
      <vt:lpstr>仿宋</vt:lpstr>
      <vt:lpstr>Noto Sans SC</vt:lpstr>
      <vt:lpstr>KSOFE4500885</vt:lpstr>
      <vt:lpstr>Segoe Print</vt:lpstr>
      <vt:lpstr>微软雅黑</vt:lpstr>
      <vt:lpstr>Arial Unicode MS</vt:lpstr>
      <vt:lpstr>KSOFE44F9426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13_默认主题</vt:lpstr>
      <vt:lpstr>14_默认主题</vt:lpstr>
      <vt:lpstr>15_默认主题</vt:lpstr>
      <vt:lpstr>16_默认主题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你说呢</cp:lastModifiedBy>
  <cp:revision>3</cp:revision>
  <dcterms:created xsi:type="dcterms:W3CDTF">2026-05-17T07:27:00Z</dcterms:created>
  <dcterms:modified xsi:type="dcterms:W3CDTF">2026-06-05T06:25:39Z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90F6BF741EFE4793B77D0F8581F6FDA6_13</vt:lpwstr>
  </property>
</Properties>
</file>